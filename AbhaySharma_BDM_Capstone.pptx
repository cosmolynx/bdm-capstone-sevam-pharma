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ABC Analysis – Revenue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bubble3D val="0"/>
            <c:spPr>
              <a:solidFill>
                <a:srgbClr val="D1E8F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Category A (9 products)</c:v>
                </c:pt>
                <c:pt idx="1">
                  <c:v>Category B (19 products)</c:v>
                </c:pt>
                <c:pt idx="2">
                  <c:v>Category C (23 products)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80</c:v>
                </c:pt>
                <c:pt idx="1">
                  <c:v>15</c:v>
                </c:pt>
                <c:pt idx="2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FSN Analysis – Product Movement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Products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Fast-moving (F)</c:v>
                  </c:pt>
                  <c:pt idx="1">
                    <c:v>Slow-moving (S)</c:v>
                  </c:pt>
                  <c:pt idx="2">
                    <c:v>Non-moving (N)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</c:v>
                </c:pt>
                <c:pt idx="1">
                  <c:v>11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Inventory Status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Balanced</c:v>
                  </c:pt>
                  <c:pt idx="1">
                    <c:v>Overstocked</c:v>
                  </c:pt>
                  <c:pt idx="2">
                    <c:v>Understocked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13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Expiry Risk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Level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Risk (&lt;0.75)</c:v>
                </c:pt>
                <c:pt idx="1">
                  <c:v>Medium Risk (0.75-1)</c:v>
                </c:pt>
                <c:pt idx="2">
                  <c:v>High Risk (&gt;1)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56.9</c:v>
                </c:pt>
                <c:pt idx="1">
                  <c:v>21.6</c:v>
                </c:pt>
                <c:pt idx="2">
                  <c:v>21.5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Share by Retailer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9D9E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2ECF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1E8F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Pooja Palus</c:v>
                  </c:pt>
                  <c:pt idx="1">
                    <c:v>NADAF</c:v>
                  </c:pt>
                  <c:pt idx="2">
                    <c:v>Akshay Islampu</c:v>
                  </c:pt>
                  <c:pt idx="3">
                    <c:v>Padmashree SO</c:v>
                  </c:pt>
                  <c:pt idx="4">
                    <c:v>Kapila Ashta</c:v>
                  </c:pt>
                  <c:pt idx="5">
                    <c:v>Others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39.2</c:v>
                </c:pt>
                <c:pt idx="1">
                  <c:v>14.1</c:v>
                </c:pt>
                <c:pt idx="2">
                  <c:v>7.5</c:v>
                </c:pt>
                <c:pt idx="3">
                  <c:v>5.1</c:v>
                </c:pt>
                <c:pt idx="4">
                  <c:v>3.7</c:v>
                </c:pt>
                <c:pt idx="5">
                  <c:v>20.2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  <c:pt idx="6">
                    <c:v>Aug</c:v>
                  </c:pt>
                  <c:pt idx="7">
                    <c:v>Sep</c:v>
                  </c:pt>
                  <c:pt idx="8">
                    <c:v>Oct</c:v>
                  </c:pt>
                  <c:pt idx="9">
                    <c:v>Nov</c:v>
                  </c:pt>
                  <c:pt idx="10">
                    <c:v>Dec</c:v>
                  </c:pt>
                  <c:pt idx="11">
                    <c:v>Jan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3552530</c:v>
                </c:pt>
                <c:pt idx="1">
                  <c:v>2062200</c:v>
                </c:pt>
                <c:pt idx="2">
                  <c:v>1784640</c:v>
                </c:pt>
                <c:pt idx="3">
                  <c:v>1794450</c:v>
                </c:pt>
                <c:pt idx="4">
                  <c:v>2259878</c:v>
                </c:pt>
                <c:pt idx="5">
                  <c:v>1472993</c:v>
                </c:pt>
                <c:pt idx="6">
                  <c:v>1551500</c:v>
                </c:pt>
                <c:pt idx="7">
                  <c:v>1310680</c:v>
                </c:pt>
                <c:pt idx="8">
                  <c:v>968780</c:v>
                </c:pt>
                <c:pt idx="9">
                  <c:v>1560620</c:v>
                </c:pt>
                <c:pt idx="10">
                  <c:v>656640</c:v>
                </c:pt>
                <c:pt idx="11">
                  <c:v>784530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(₹)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Feb</c:v>
                  </c:pt>
                  <c:pt idx="1">
                    <c:v>Mar</c:v>
                  </c:pt>
                  <c:pt idx="2">
                    <c:v>Apr</c:v>
                  </c:pt>
                  <c:pt idx="3">
                    <c:v>May</c:v>
                  </c:pt>
                  <c:pt idx="4">
                    <c:v>Jun</c:v>
                  </c:pt>
                  <c:pt idx="5">
                    <c:v>Jul</c:v>
                  </c:pt>
                  <c:pt idx="6">
                    <c:v>Aug</c:v>
                  </c:pt>
                  <c:pt idx="7">
                    <c:v>Sep</c:v>
                  </c:pt>
                  <c:pt idx="8">
                    <c:v>Oct</c:v>
                  </c:pt>
                  <c:pt idx="9">
                    <c:v>Nov</c:v>
                  </c:pt>
                  <c:pt idx="10">
                    <c:v>Dec</c:v>
                  </c:pt>
                  <c:pt idx="11">
                    <c:v>Jan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355253</c:v>
                </c:pt>
                <c:pt idx="1">
                  <c:v>438784</c:v>
                </c:pt>
                <c:pt idx="2">
                  <c:v>452234</c:v>
                </c:pt>
                <c:pt idx="3">
                  <c:v>379445</c:v>
                </c:pt>
                <c:pt idx="4">
                  <c:v>347193</c:v>
                </c:pt>
                <c:pt idx="5">
                  <c:v>315150</c:v>
                </c:pt>
                <c:pt idx="6">
                  <c:v>310580</c:v>
                </c:pt>
                <c:pt idx="7">
                  <c:v>96878</c:v>
                </c:pt>
                <c:pt idx="8">
                  <c:v>156062</c:v>
                </c:pt>
                <c:pt idx="9">
                  <c:v>440590</c:v>
                </c:pt>
                <c:pt idx="10">
                  <c:v>65664</c:v>
                </c:pt>
                <c:pt idx="11">
                  <c:v>78453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457200"/>
            <a:ext cx="2560320" cy="109728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4572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IIT Madras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BDM Capstone Project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Pharmaceutical Distribution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Data-Driven Inventory Optimization,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&amp; Retailer Performance Analytics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657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Sevam Pharma LLP — Sangli, Maharashtra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Submitted by: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Abhay Sharma  |  Roll: 23F3001400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Data Period: Feb 2025 – Jan 2026  |  IITM Online BS Degree Program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BDM Capstone | Final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Background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4160520" cy="150876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9144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</a:rPr>
              <a:t>🏢  Company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Sevam Pharma LLP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Registered LLP (LLPIN: ABA-2176)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Est. January 2022, Sangli, MH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160520" cy="150876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43000"/>
            <a:ext cx="9144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</a:rPr>
              <a:t>⚕️  Business Type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B2B Pharmaceutical Distributor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Supplies medicines to retail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medical stores in the region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788920"/>
            <a:ext cx="4160520" cy="150876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788920"/>
            <a:ext cx="9144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</a:rPr>
              <a:t>💊  Main Supplier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2461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Sun Pharma (primary source)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Neurological &amp; psychiatric drugs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Epilepsy, Parkinson's, Depression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2788920"/>
            <a:ext cx="4160520" cy="150876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788920"/>
            <a:ext cx="9144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</a:rPr>
              <a:t>👥  Operations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2461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12 Employees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Sangli &amp; nearby regions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5 Designated Partners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Abhay Sharma  |  23F3001400  |  BDM Capstone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8595360" cy="7772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669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566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216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</a:rPr>
              <a:t>Inventory &amp; Expiry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90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Slow-moving medicines increase expiry risk; fast-moving ones go out of stock causing missed sales.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48256"/>
            <a:ext cx="5669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48256"/>
            <a:ext cx="566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21214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</a:rPr>
              <a:t>Retail Outlet Performance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3957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Poor performance of specific retailers in terms of sales volume and efficient stock utilization.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53512"/>
            <a:ext cx="8595360" cy="7772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53512"/>
            <a:ext cx="5669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53512"/>
            <a:ext cx="566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026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</a:rPr>
              <a:t>Seasonal &amp; Regional Demand Patterns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0098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Demand fluctuates monthly; regional patterns affect forecasting and stock allocation across retailers.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858768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858768"/>
            <a:ext cx="566928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858768"/>
            <a:ext cx="5669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</a:rPr>
              <a:t>Data Anomalies &amp; Inconsistencies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2062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Missing material codes, stock records violating closing stock formula, incomplete data entries.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Abhay Sharma  |  23F3001400  |  BDM Capstone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Collection &amp;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2"/>
                </a:solidFill>
              </a:rPr>
              <a:t>Data Sources (Feb 2025 – Jan 2026)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8191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819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50876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Product-wise Sales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8483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0116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Product-wise Purchase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8775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877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5146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Monthly Stock Statements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</a:rPr>
              <a:t>Tools Used: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3429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Python (Pandas, Matplotlib, Seaborn)  |  Microsoft Excel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17720" y="1051560"/>
            <a:ext cx="36576" cy="3657600"/>
          </a:xfrm>
          <a:prstGeom prst="rect">
            <a:avLst/>
          </a:prstGeom>
          <a:solidFill>
            <a:srgbClr val="D1E8F0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97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2"/>
                </a:solidFill>
              </a:rPr>
              <a:t>Analytical Techniques Applied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554480"/>
            <a:ext cx="20574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ABC Analysis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221992"/>
            <a:ext cx="20574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28032" y="22219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FSN Analysis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889504"/>
            <a:ext cx="20574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28032" y="28895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Stock vs Sales Comparison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57016"/>
            <a:ext cx="20574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28032" y="355701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Expiry Risk Analysis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03720" y="1554480"/>
            <a:ext cx="20574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76872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Inventory Turnover Analysis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03720" y="2221992"/>
            <a:ext cx="20574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76872" y="222199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Retailer-wise Sales &amp; Contribution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03720" y="2889504"/>
            <a:ext cx="20574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76872" y="28895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Revenue Trend Analysis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03720" y="3557016"/>
            <a:ext cx="2057400" cy="54864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76872" y="3557016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Correlation &amp; Anomaly Detection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Abhay Sharma  |  23F3001400  |  BDM Capstone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ABC &amp; FSN Analysis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182880" y="1051560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1051560"/>
          <a:ext cx="4389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E0F7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39319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3D52"/>
                </a:solidFill>
              </a:rPr>
              <a:t>💡  Key Insight: Just 9 (Category A) products drive ~80% of revenue. PRAMIPEX ER 0.375 TA 10 TAB alone contributes 38.85%. Meanwhile, 18 products are slow/non-moving — tying up capital and increasing expiry risk.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Abhay Sharma  |  23F3001400  |  BDM Capstone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Inventory Status &amp; Expiry Risk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182880" y="1051560"/>
          <a:ext cx="4206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0" y="1051560"/>
          <a:ext cx="43891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794760"/>
            <a:ext cx="2011680" cy="804672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27432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</a:rPr>
              <a:t>30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74320" y="4251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Balanced Products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423160" y="3794760"/>
            <a:ext cx="2011680" cy="804672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42316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13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423160" y="4251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Overstocked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572000" y="3794760"/>
            <a:ext cx="2011680" cy="804672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8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572000" y="4251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Understocked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720840" y="3794760"/>
            <a:ext cx="2011680" cy="804672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72084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21.5%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720840" y="4251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High Expiry Risk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Abhay Sharma  |  23F3001400  |  BDM Capstone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Retailer Performance &amp; Revenue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182880" y="1078992"/>
          <a:ext cx="53035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1078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2"/>
                </a:solidFill>
              </a:rPr>
              <a:t>Key Retailer Findings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0" y="1508760"/>
            <a:ext cx="3291840" cy="530352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760720" y="154533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📊  1 retailer (Pooja Palus) generates 39.2% of total revenue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69280" y="2103120"/>
            <a:ext cx="3291840" cy="530352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213969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🔄  25–35% of supplied quantity returned across top retailers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69280" y="2697480"/>
            <a:ext cx="3291840" cy="530352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0" y="273405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💰  NADAF &amp; Devchandra: lower qty but high revenue — sell premium medicines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69280" y="3291840"/>
            <a:ext cx="3291840" cy="530352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332841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⚠️  High return rates indicate stock allocation misaligned with actual demand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69280" y="3886200"/>
            <a:ext cx="3291840" cy="530352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60720" y="392277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📦  Sales qty fairly distributed but revenue is highly concentrated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Abhay Sharma  |  23F3001400  |  BDM Capstone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Revenue Trends &amp; Demand Patterns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182880" y="1078992"/>
          <a:ext cx="8778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3931920"/>
            <a:ext cx="2907792" cy="658368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" y="3931920"/>
            <a:ext cx="73152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" y="39319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Feb: Highest revenue (₹35.5L) — retailers bulk stock at cycle start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54680" y="3931920"/>
            <a:ext cx="2907792" cy="658368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4680" y="3931920"/>
            <a:ext cx="7315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19272" y="39319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Mar–May: Higher profitability despite lower revenue — better margins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3931920"/>
            <a:ext cx="2907792" cy="658368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3931920"/>
            <a:ext cx="73152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91072" y="3931920"/>
            <a:ext cx="2697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Oct–Jan: Low profit — reduced replenishment at end of retail cycle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Abhay Sharma  |  23F3001400  |  BDM Capstone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Correlation Analysis &amp; Data Anomalies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2"/>
                </a:solidFill>
              </a:rPr>
              <a:t>Inventory Correlation Matrix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81328"/>
          <a:ext cx="4114800" cy="2194560"/>
        </p:xfrm>
        <a:graphic>
          <a:graphicData uri="http://schemas.openxmlformats.org/drawingml/2006/table">
            <a:tbl>
              <a:tblPr/>
              <a:tblGrid>
                <a:gridCol w="1005840"/>
                <a:gridCol w="777240"/>
                <a:gridCol w="777240"/>
                <a:gridCol w="777240"/>
                <a:gridCol w="7772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Receipt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Closing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5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Opening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6A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Receipt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-0.71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Closing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0.90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D6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-0.71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52"/>
                </a:solidFill>
              </a:rPr>
              <a:t>Data Anomalies Detected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508760"/>
            <a:ext cx="4114800" cy="86868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581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</a:rPr>
              <a:t>🔴  Missing Material Codes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46320" y="1874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Some products have inconsistent/missing material codes across datasets, causing merge mismatches.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2514600"/>
            <a:ext cx="4114800" cy="86868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46320" y="2587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</a:rPr>
              <a:t>🟡  Stock Formula Violations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46320" y="28803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Several records fail: Closing ≠ Opening + Purchase – Sales, indicating manual errors.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0" y="3520440"/>
            <a:ext cx="4114800" cy="868680"/>
          </a:xfrm>
          <a:prstGeom prst="rect">
            <a:avLst/>
          </a:prstGeom>
          <a:solidFill>
            <a:srgbClr val="F0F7FA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3593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</a:rPr>
              <a:t>⚠️  Missing Zero-Activity Products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Products with no sales or purchases are absent from stock dataset instead of showing equal opening/closing values.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3858768"/>
            <a:ext cx="4114800" cy="777240"/>
          </a:xfrm>
          <a:prstGeom prst="rect">
            <a:avLst/>
          </a:prstGeom>
          <a:solidFill>
            <a:srgbClr val="E0F7F4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385876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3D52"/>
                </a:solidFill>
              </a:rPr>
              <a:t>Opening ↔ Closing: 0.90 (strong) — inventory barely changes.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3D52"/>
                </a:solidFill>
              </a:rPr>
              <a:t>Sales ↔ Closing: -0.71 — sales reduce stock as expected.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A3D52"/>
                </a:solidFill>
              </a:rPr>
              <a:t>Sales ↔ Receipts: 0.20 — procurement weakly linked to demand!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Abhay Sharma  |  23F3001400  |  BDM Capstone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Recommendations &amp; 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4251960" cy="960120"/>
          </a:xfrm>
          <a:prstGeom prst="rect">
            <a:avLst/>
          </a:prstGeom>
          <a:solidFill>
            <a:srgbClr val="0D334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50292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Demand-Based Replenishment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D8"/>
                </a:solidFill>
              </a:rPr>
              <a:t>Maintain stock = 1.2–1.5× avg sales of last 2–3 months. Define reorder levels per product.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084832"/>
            <a:ext cx="4251960" cy="960120"/>
          </a:xfrm>
          <a:prstGeom prst="rect">
            <a:avLst/>
          </a:prstGeom>
          <a:solidFill>
            <a:srgbClr val="0D334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084832"/>
            <a:ext cx="50292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084832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Tackle Overstocked Items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468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D8"/>
                </a:solidFill>
              </a:rPr>
              <a:t>Offer discounts/bundles to retailers, redistribute excess stock, pause procurement temporarily.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163824"/>
            <a:ext cx="4251960" cy="960120"/>
          </a:xfrm>
          <a:prstGeom prst="rect">
            <a:avLst/>
          </a:prstGeom>
          <a:solidFill>
            <a:srgbClr val="0D334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163824"/>
            <a:ext cx="50292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163824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255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Retailer-Specific Allocation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5478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D8"/>
                </a:solidFill>
              </a:rPr>
              <a:t>Supply based on each retailer's historical sales—not uniform quantities—to cut high return rates.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251960" cy="960120"/>
          </a:xfrm>
          <a:prstGeom prst="rect">
            <a:avLst/>
          </a:prstGeom>
          <a:solidFill>
            <a:srgbClr val="0D334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05840"/>
            <a:ext cx="50292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058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Expiry Prioritization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13898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D8"/>
                </a:solidFill>
              </a:rPr>
              <a:t>Identify high-risk items early and push via targeted promotions or faster distribution channels.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084832"/>
            <a:ext cx="4251960" cy="960120"/>
          </a:xfrm>
          <a:prstGeom prst="rect">
            <a:avLst/>
          </a:prstGeom>
          <a:solidFill>
            <a:srgbClr val="0D334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084832"/>
            <a:ext cx="50292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084832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Small-Batch Procurement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4688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D8"/>
                </a:solidFill>
              </a:rPr>
              <a:t>Shift from bulk purchasing to frequent small batches to reduce holding costs and expiry risk.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163824"/>
            <a:ext cx="4251960" cy="960120"/>
          </a:xfrm>
          <a:prstGeom prst="rect">
            <a:avLst/>
          </a:prstGeom>
          <a:solidFill>
            <a:srgbClr val="0D334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163824"/>
            <a:ext cx="50292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163824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255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Data Standardization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35478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8D8"/>
                </a:solidFill>
              </a:rPr>
              <a:t>Consistent material codes, complete stock records, monthly validation of closing stock formula.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315968"/>
            <a:ext cx="9144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Conclusion: Data-driven strategies — demand-based replenishment, controlled stock allocation, and expiry monitoring — will reduce losses, improve efficiency, and enable sustainable growth for Sevam Pharma LLP.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263A"/>
          </a:solidFill>
          <a:ln w="12700">
            <a:solidFill>
              <a:srgbClr val="0626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Abhay Sharma  |  Roll: 23F3001400  |  IITM Online BS Degree Program  |  BDM Capstone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Advancing Pharmaceutical Distribution</dc:title>
  <dc:subject>PptxGenJS Presentation</dc:subject>
  <dc:creator>Abhay Sharma</dc:creator>
  <cp:lastModifiedBy>Abhay Sharma</cp:lastModifiedBy>
  <cp:revision>1</cp:revision>
  <dcterms:created xsi:type="dcterms:W3CDTF">2026-04-19T08:28:34Z</dcterms:created>
  <dcterms:modified xsi:type="dcterms:W3CDTF">2026-04-19T08:28:34Z</dcterms:modified>
</cp:coreProperties>
</file>